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3" r:id="rId14"/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15"/>
    <p:sldId id="265" r:id="rId16"/>
  </p:sldIdLst>
  <p:notesMasterIdLst>
    <p:notesMasterId r:id="rId9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平均延迟(ms)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B234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qwen2.5:7b
(未微调，原方案)</c:v>
                  </c:pt>
                  <c:pt idx="1">
                    <c:v>qwen2.5:1.5b
(未微调)</c:v>
                  </c:pt>
                  <c:pt idx="2">
                    <c:v>qwen2.5:1.5b
(微调后，上线方案)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3550</c:v>
                </c:pt>
                <c:pt idx="1">
                  <c:v>850</c:v>
                </c:pt>
                <c:pt idx="2">
                  <c:v>1267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B234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6872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9FC"/>
        </a:solidFill>
        <a:ln>
          <a:noFill/>
        </a:ln>
        <a:effectLst/>
      </c:spPr>
    </c:plotArea>
    <c:plotVisOnly val="1"/>
    <c:dispBlanksAs val="span"/>
  </c:chart>
  <c:spPr>
    <a:solidFill>
      <a:srgbClr val="F7F9FC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1.png"/><Relationship Id="rId3" Type="http://schemas.openxmlformats.org/officeDocument/2006/relationships/image" Target="../media/image-6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AGENT · 耗时优化实践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双模型协同架构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8412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通用大模型负责综合推理与生成，微调小模型专精意图分类——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用任务体量匹配模型体量，把该省的时间省下来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4892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1078992" y="4974336"/>
            <a:ext cx="658368" cy="658368"/>
          </a:xfrm>
          <a:prstGeom prst="ellipse">
            <a:avLst/>
          </a:prstGeom>
          <a:solidFill>
            <a:srgbClr val="283769"/>
          </a:solidFill>
          <a:ln/>
        </p:spPr>
      </p:sp>
      <p:pic>
        <p:nvPicPr>
          <p:cNvPr id="9" name="Image 0" descr="icon_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51206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920240" y="48737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qwen2.5:7b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920240" y="53126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通用生成模型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72200" y="4617720"/>
            <a:ext cx="4892040" cy="137160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13" name="Shape 10"/>
          <p:cNvSpPr/>
          <p:nvPr/>
        </p:nvSpPr>
        <p:spPr>
          <a:xfrm>
            <a:off x="6428232" y="4974336"/>
            <a:ext cx="658368" cy="658368"/>
          </a:xfrm>
          <a:prstGeom prst="ellipse">
            <a:avLst/>
          </a:prstGeom>
          <a:solidFill>
            <a:srgbClr val="283769"/>
          </a:solidFill>
          <a:ln/>
        </p:spPr>
      </p:sp>
      <p:pic>
        <p:nvPicPr>
          <p:cNvPr id="14" name="Image 1" descr="icon_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4536" y="51206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69480" y="487375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qwen2.5:1.5b（微调）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7269480" y="5312664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意图分类专用模型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架构总览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一次问答请求经过的节点，按任务性质分别路由到两个模型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1691640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2148840"/>
            <a:ext cx="1691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会话初始化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2546604"/>
            <a:ext cx="320040" cy="164592"/>
          </a:xfrm>
          <a:prstGeom prst="rightArrow">
            <a:avLst/>
          </a:prstGeom>
          <a:solidFill>
            <a:srgbClr val="B7C1DE"/>
          </a:solidFill>
          <a:ln/>
        </p:spPr>
      </p:sp>
      <p:sp>
        <p:nvSpPr>
          <p:cNvPr id="7" name="Shape 5"/>
          <p:cNvSpPr/>
          <p:nvPr/>
        </p:nvSpPr>
        <p:spPr>
          <a:xfrm>
            <a:off x="2697480" y="2039112"/>
            <a:ext cx="1828800" cy="1179576"/>
          </a:xfrm>
          <a:prstGeom prst="roundRect">
            <a:avLst>
              <a:gd name="adj" fmla="val 697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2039112"/>
            <a:ext cx="1828800" cy="731337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</a:t>
            </a:r>
            <a:endParaRPr lang="en-US" sz="12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97480" y="2770449"/>
            <a:ext cx="1828800" cy="448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 微调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26280" y="2546604"/>
            <a:ext cx="320040" cy="164592"/>
          </a:xfrm>
          <a:prstGeom prst="rightArrow">
            <a:avLst/>
          </a:prstGeom>
          <a:solidFill>
            <a:srgbClr val="B7C1DE"/>
          </a:solidFill>
          <a:ln/>
        </p:spPr>
      </p:sp>
      <p:sp>
        <p:nvSpPr>
          <p:cNvPr id="11" name="Shape 9"/>
          <p:cNvSpPr/>
          <p:nvPr/>
        </p:nvSpPr>
        <p:spPr>
          <a:xfrm>
            <a:off x="4846320" y="2039112"/>
            <a:ext cx="6656832" cy="1179576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D8DEEE"/>
            </a:solidFill>
            <a:prstDash val="solid"/>
          </a:ln>
          <a:effectLst>
            <a:outerShdw sx="100000" sy="100000" kx="0" ky="0" algn="bl" rotWithShape="0" blurRad="76200" dist="25400" dir="5400000">
              <a:srgbClr val="9AA5C2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01184" y="2039112"/>
            <a:ext cx="1554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/ tool_subgraph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65392" y="2039112"/>
            <a:ext cx="1554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10528" y="2093976"/>
            <a:ext cx="0" cy="1069848"/>
          </a:xfrm>
          <a:prstGeom prst="line">
            <a:avLst/>
          </a:prstGeom>
          <a:noFill/>
          <a:ln w="12700">
            <a:solidFill>
              <a:srgbClr val="E3E8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2039112"/>
            <a:ext cx="1554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字段抽取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174736" y="2093976"/>
            <a:ext cx="0" cy="1069848"/>
          </a:xfrm>
          <a:prstGeom prst="line">
            <a:avLst/>
          </a:prstGeom>
          <a:noFill/>
          <a:ln w="12700">
            <a:solidFill>
              <a:srgbClr val="E3E8F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93808" y="2039112"/>
            <a:ext cx="155448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摘要压缩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38944" y="2093976"/>
            <a:ext cx="0" cy="1069848"/>
          </a:xfrm>
          <a:prstGeom prst="line">
            <a:avLst/>
          </a:prstGeom>
          <a:noFill/>
          <a:ln w="12700">
            <a:solidFill>
              <a:srgbClr val="E3E8F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3291840"/>
            <a:ext cx="6656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通用模型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85800" y="3977640"/>
            <a:ext cx="1081735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2336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路由依据：任务是否需要“综合推理 / 自由生成”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051560" y="4754880"/>
            <a:ext cx="548640" cy="54864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23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4882896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764792" y="4727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窄任务、输出结构固定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1764792" y="5056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意图分类：四选一，输出严格 JSON schema → 交给微调小模型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400800" y="4754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1" descr="icon_rob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4882896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14032" y="4727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开放任务、需要综合判断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7114032" y="505663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生成回答/工具决策/字段抽取/摘要 → 交给通用大模型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qwen2.5:7b 的应用场景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需要综合推理 / 自由生成能力的任务，继续交给通用大模型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icon_gener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093976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837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生成最终回答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2219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_generate_node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172200" y="1856232"/>
            <a:ext cx="0" cy="841248"/>
          </a:xfrm>
          <a:prstGeom prst="line">
            <a:avLst/>
          </a:prstGeom>
          <a:noFill/>
          <a:ln w="12700">
            <a:solidFill>
              <a:srgbClr val="E9ED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46520" y="1837944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流式生成用户实际看到的答案，需要综合检索结果、对话历史、用户长期记忆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3008376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914400" y="3264408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icon_tool_dec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41071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83080" y="31546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工具调用决策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783080" y="35387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ReAct think_node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72200" y="3172968"/>
            <a:ext cx="0" cy="841248"/>
          </a:xfrm>
          <a:prstGeom prst="line">
            <a:avLst/>
          </a:prstGeom>
          <a:noFill/>
          <a:ln w="12700">
            <a:solidFill>
              <a:srgbClr val="E9EDF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46520" y="3154680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循环里判断要不要调用工具、调哪一个、参数怎么填，多轮动态决策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4325112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914400" y="4581144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2" descr="icon_field_extrac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472744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783080" y="44714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工作流字段抽取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1783080" y="485546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_extract_workflow_fields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172200" y="4489704"/>
            <a:ext cx="0" cy="841248"/>
          </a:xfrm>
          <a:prstGeom prst="line">
            <a:avLst/>
          </a:prstGeom>
          <a:noFill/>
          <a:ln w="12700">
            <a:solidFill>
              <a:srgbClr val="E9EDF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446520" y="4471416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从请假 / 报销等自然语言对话中，抽取出结构化的申请字段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" y="5641848"/>
            <a:ext cx="10881360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914400" y="58978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7" name="Image 3" descr="icon_memor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6044184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783080" y="5788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记忆压缩摘要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1783080" y="6172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_memory_manage_node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6172200" y="5806440"/>
            <a:ext cx="0" cy="841248"/>
          </a:xfrm>
          <a:prstGeom prst="line">
            <a:avLst/>
          </a:prstGeom>
          <a:noFill/>
          <a:ln w="12700">
            <a:solidFill>
              <a:srgbClr val="E9EDF6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6446520" y="5788152"/>
            <a:ext cx="48920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对话超出滑动窗口时，把旧消息压缩成摘要，保留长期上下文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qwen2.5:1.5b（微调）的应用场景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只做一件事，但把这一件事做到极致——四分类意图识别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38100" dir="5400000">
              <a:srgbClr val="1E276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2011680"/>
            <a:ext cx="777240" cy="777240"/>
          </a:xfrm>
          <a:prstGeom prst="ellipse">
            <a:avLst/>
          </a:prstGeom>
          <a:solidFill>
            <a:srgbClr val="283769"/>
          </a:solidFill>
          <a:ln/>
        </p:spPr>
      </p:sp>
      <p:pic>
        <p:nvPicPr>
          <p:cNvPr id="6" name="Image 0" descr="icon_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9576" y="2185416"/>
            <a:ext cx="429768" cy="4297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2084832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四分类意图识别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965960" y="24963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_intent_node → detect_intent()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005840" y="306324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283769"/>
          </a:solidFill>
          <a:ln/>
        </p:spPr>
      </p:sp>
      <p:sp>
        <p:nvSpPr>
          <p:cNvPr id="10" name="Text 7"/>
          <p:cNvSpPr/>
          <p:nvPr/>
        </p:nvSpPr>
        <p:spPr>
          <a:xfrm>
            <a:off x="1005840" y="30632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clarify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194560" y="30632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问题模糊，需要追问澄清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1005840" y="352044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283769"/>
          </a:solidFill>
          <a:ln/>
        </p:spPr>
      </p:sp>
      <p:sp>
        <p:nvSpPr>
          <p:cNvPr id="13" name="Text 10"/>
          <p:cNvSpPr/>
          <p:nvPr/>
        </p:nvSpPr>
        <p:spPr>
          <a:xfrm>
            <a:off x="1005840" y="35204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194560" y="35204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针对本次对话上传的文件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005840" y="397764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283769"/>
          </a:solidFill>
          <a:ln/>
        </p:spPr>
      </p:sp>
      <p:sp>
        <p:nvSpPr>
          <p:cNvPr id="16" name="Text 13"/>
          <p:cNvSpPr/>
          <p:nvPr/>
        </p:nvSpPr>
        <p:spPr>
          <a:xfrm>
            <a:off x="1005840" y="39776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194560" y="39776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需要查企业知识库 / 调用工具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1005840" y="4434840"/>
            <a:ext cx="1051560" cy="310896"/>
          </a:xfrm>
          <a:prstGeom prst="roundRect">
            <a:avLst>
              <a:gd name="adj" fmla="val 14706"/>
            </a:avLst>
          </a:prstGeom>
          <a:solidFill>
            <a:srgbClr val="283769"/>
          </a:solidFill>
          <a:ln/>
        </p:spPr>
      </p:sp>
      <p:sp>
        <p:nvSpPr>
          <p:cNvPr id="19" name="Text 16"/>
          <p:cNvSpPr/>
          <p:nvPr/>
        </p:nvSpPr>
        <p:spPr>
          <a:xfrm>
            <a:off x="1005840" y="4434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workflow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194560" y="4434840"/>
            <a:ext cx="3337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发起请假 / 报销等业务流程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05840" y="5074920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决定这一轮问题该走哪条分支——四选一之后，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下游节点（检索 / 工具 / 工作流 / 生成）才真正开始工作。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603504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为什么这个任务适合小模型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6035040" y="2194560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263640" y="2514600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5" name="Text 22"/>
          <p:cNvSpPr/>
          <p:nvPr/>
        </p:nvSpPr>
        <p:spPr>
          <a:xfrm>
            <a:off x="6492240" y="2304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输出结构固定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2596896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严格 JSON schema（intent_type / confidence / target_tool …），不需要自由发挥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3236976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6263640" y="3557016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29" name="Text 26"/>
          <p:cNvSpPr/>
          <p:nvPr/>
        </p:nvSpPr>
        <p:spPr>
          <a:xfrm>
            <a:off x="6492240" y="334670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判断边界清晰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92240" y="36393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四个类别定义明确，是分类问题，不是开放式生成问题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035040" y="4279392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263640" y="4599432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3" name="Text 30"/>
          <p:cNvSpPr/>
          <p:nvPr/>
        </p:nvSpPr>
        <p:spPr>
          <a:xfrm>
            <a:off x="6492240" y="43891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微调专精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92240" y="4681728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用真实场景样本微调，只学这一个任务，不追求通用能力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035040" y="5321808"/>
            <a:ext cx="54864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263640" y="5641848"/>
            <a:ext cx="82296" cy="82296"/>
          </a:xfrm>
          <a:prstGeom prst="ellipse">
            <a:avLst/>
          </a:prstGeom>
          <a:solidFill>
            <a:srgbClr val="00C2A8"/>
          </a:solidFill>
          <a:ln/>
        </p:spPr>
      </p:sp>
      <p:sp>
        <p:nvSpPr>
          <p:cNvPr id="37" name="Text 34"/>
          <p:cNvSpPr/>
          <p:nvPr/>
        </p:nvSpPr>
        <p:spPr>
          <a:xfrm>
            <a:off x="6492240" y="543153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量化后轻量部署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92240" y="5724144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 LoRA → 转 GGUF → Ollama 量化导入，常驻显存仅约 1GB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实测优势：更准，也更快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同一套 23 条基准用例，走完全相同的生产代码路径（execute() → detect_intent()）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190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C2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487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准确率（23/23）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 1.5B，含此前系统性判错的边界用例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600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343400" y="17190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2.7×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343400" y="2487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意图分类提速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稳态延迟 ~1267ms，对比 7B 的 ~3550ms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8046720" y="1600200"/>
            <a:ext cx="34290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8F4"/>
            </a:solidFill>
            <a:prstDash val="solid"/>
          </a:ln>
          <a:effectLst>
            <a:outerShdw sx="100000" sy="100000" kx="0" ky="0" algn="bl" rotWithShape="0" blurRad="63500" dist="25400" dir="5400000">
              <a:srgbClr val="9AA5C2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046720" y="1719072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6872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91.3%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046720" y="2487168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7B 原有准确率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75320" y="27889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作为对照基线（21/23）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40080" y="3520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稳态延迟对比（毫秒，排除冷启动首次调用）</a:t>
            </a:r>
            <a:endParaRPr lang="en-US" sz="13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886200"/>
          <a:ext cx="649224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7360920" y="3886200"/>
            <a:ext cx="4160520" cy="2606040"/>
          </a:xfrm>
          <a:prstGeom prst="roundRect">
            <a:avLst>
              <a:gd name="adj" fmla="val 3509"/>
            </a:avLst>
          </a:prstGeom>
          <a:solidFill>
            <a:srgbClr val="1E2761"/>
          </a:solidFill>
          <a:ln/>
        </p:spPr>
      </p:sp>
      <p:sp>
        <p:nvSpPr>
          <p:cNvPr id="19" name="Shape 16"/>
          <p:cNvSpPr/>
          <p:nvPr/>
        </p:nvSpPr>
        <p:spPr>
          <a:xfrm>
            <a:off x="7635240" y="4142232"/>
            <a:ext cx="548640" cy="548640"/>
          </a:xfrm>
          <a:prstGeom prst="ellipse">
            <a:avLst/>
          </a:prstGeom>
          <a:solidFill>
            <a:srgbClr val="283769"/>
          </a:solidFill>
          <a:ln/>
        </p:spPr>
      </p:sp>
      <p:pic>
        <p:nvPicPr>
          <p:cNvPr id="20" name="Image 0" descr="icon_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3256" y="427024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8321040" y="4160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结论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7635240" y="4754880"/>
            <a:ext cx="36576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未微调的 1.5B 更快，但准确率明显更差；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微调后的 1.5B 同时拿到了两者的优势——</a:t>
            </a:r>
            <a:endParaRPr lang="en-US" sz="12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 7B 更准，也比 7B 快 2.7 倍。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3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权衡：多一个模型，多一份维护责任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“更快更准”不是没有代价的，这些代价需要被明确认领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EEDFC7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16836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6" name="Image 0" descr="icon_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2631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947672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规则变化需要重新训练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83080" y="2313432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新增工具、新增工作流类型、修改分类规则时，微调模型不会像通用大模型那样“读一遍新 prompt 就适应”——需要补充训练样本、重新微调，否则准确率可能悄悄下降而不报错。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40080" y="3273552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EEDFC7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07308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11" name="Image 1" descr="icon_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" y="3753612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438144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需要额外的保活策略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783080" y="3803904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两个模型同时常驻显存，任一个空闲超时被换出，下一次请求就要多付出几秒到十几秒的冷启动代价，需要后台保活探测配合。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764024"/>
            <a:ext cx="108813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15875">
            <a:solidFill>
              <a:srgbClr val="EEDFC7"/>
            </a:solidFill>
            <a:prstDash val="solid"/>
          </a:ln>
          <a:effectLst>
            <a:outerShdw sx="100000" sy="100000" kx="0" ky="0" algn="bl" rotWithShape="0" blurRad="50800" dist="25400" dir="5400000">
              <a:srgbClr val="9AA5C2">
                <a:alpha val="1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7780"/>
            <a:ext cx="658368" cy="658368"/>
          </a:xfrm>
          <a:prstGeom prst="ellipse">
            <a:avLst/>
          </a:prstGeom>
          <a:solidFill>
            <a:srgbClr val="D98C2B"/>
          </a:solidFill>
          <a:ln/>
        </p:spPr>
      </p:sp>
      <p:pic>
        <p:nvPicPr>
          <p:cNvPr id="16" name="Image 2" descr="icon_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524408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928616"/>
            <a:ext cx="9052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缺乏通用模型的弹性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83080" y="5294376"/>
            <a:ext cx="9052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687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窄任务微调换来了速度和准确率，但代价是失去了大模型“见招拆招”的泛化能力——这笔账要在每次业务规则变化时重新算一遍。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645920"/>
            <a:ext cx="5029200" cy="5029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总结与下一步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508760"/>
            <a:ext cx="106070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828800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6" name="Image 0" descr="icon_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1872" y="19933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7830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已上线：意图分类专用模型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057400" y="224028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qwen2.5:1.5b 微调 + GGUF 量化，接入 _intent_node 的 detect_intent() 调用——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准确率 100%，稳态延迟从 ~3550ms 降到 ~1267ms。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77240" y="3566160"/>
            <a:ext cx="10607040" cy="1874520"/>
          </a:xfrm>
          <a:prstGeom prst="roundRect">
            <a:avLst>
              <a:gd name="adj" fmla="val 4878"/>
            </a:avLst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1097280" y="3886200"/>
            <a:ext cx="731520" cy="731520"/>
          </a:xfrm>
          <a:prstGeom prst="ellipse">
            <a:avLst/>
          </a:prstGeom>
          <a:solidFill>
            <a:srgbClr val="00C2A8"/>
          </a:solidFill>
          <a:ln/>
        </p:spPr>
      </p:sp>
      <p:pic>
        <p:nvPicPr>
          <p:cNvPr id="11" name="Image 1" descr="icon_rou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1872" y="40507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057400" y="3840480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验证通过：查询重写 + 分类合并为一次调用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2057400" y="4297680"/>
            <a:ext cx="8686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把指代消解、并列子查询拆分和四分类合并进同一个微调模型（analyze_and_route）——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首轮发现“预订类动作 vs 发起审批流程”边界误判，补充对比样本重新训练后，准确率追平 7B（7/8），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延迟从 ~8674ms 降到 ~3199ms，待排期接入生产。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777240" y="5806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用任务体量匹配模型体量，是这次耗时优化里性价比最高的一步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23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C2A8"/>
                </a:solidFill>
                <a:latin typeface="Calibri"/>
              </a:rPr>
              <a:t>CHAPTER 01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2862072"/>
            <a:ext cx="548640" cy="381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634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mbria"/>
              </a:rPr>
              <a:t>双模型协同架构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95928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ADCFC"/>
                </a:solidFill>
                <a:latin typeface="Calibri"/>
              </a:rPr>
              <a:t>意图分类耗时优化：qwen2.5:7b 通用生成 + 微调 qwen2.5:1.5b 专职分类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4231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00C2A8"/>
                </a:solidFill>
                <a:latin typeface="Calibri"/>
              </a:rPr>
              <a:t>CHAPTER 02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2862072"/>
            <a:ext cx="548640" cy="38100"/>
          </a:xfrm>
          <a:prstGeom prst="rect">
            <a:avLst/>
          </a:prstGeom>
          <a:solidFill>
            <a:srgbClr val="00C2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017520"/>
            <a:ext cx="10634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mbria"/>
              </a:rPr>
              <a:t>知识库权限校验流程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95928"/>
            <a:ext cx="101772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CADCFC"/>
                </a:solidFill>
                <a:latin typeface="Calibri"/>
              </a:rPr>
              <a:t>本地检索模式下的访问控制设计：候选集在检索前收窄，无权限不触碰向量库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1F2937"/>
                </a:solidFill>
                <a:latin typeface="Microsoft YaHei"/>
              </a:rPr>
              <a:t>知识库权限校验流程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50" b="0">
                <a:solidFill>
                  <a:srgbClr val="666666"/>
                </a:solidFill>
                <a:latin typeface="Microsoft YaHei"/>
              </a:rPr>
              <a:t>本地检索模式（internal_chroma）—— 当前全部 6 家企业均为此模式，无生产企业使用委托库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09160" y="1051560"/>
            <a:ext cx="4206240" cy="457200"/>
          </a:xfrm>
          <a:prstGeom prst="roundRect">
            <a:avLst/>
          </a:prstGeom>
          <a:solidFill>
            <a:srgbClr val="EAF2FC"/>
          </a:solidFill>
          <a:ln w="15875">
            <a:solidFill>
              <a:srgbClr val="2F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400" b="1">
                <a:solidFill>
                  <a:srgbClr val="222222"/>
                </a:solidFill>
                <a:latin typeface="Microsoft YaHei"/>
              </a:rPr>
              <a:t>员工发起提问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12280" y="1508760"/>
            <a:ext cx="0" cy="164591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709160" y="1673351"/>
            <a:ext cx="4206240" cy="502920"/>
          </a:xfrm>
          <a:prstGeom prst="rect">
            <a:avLst/>
          </a:prstGeom>
          <a:solidFill>
            <a:srgbClr val="EAF2FC"/>
          </a:solidFill>
          <a:ln w="15875">
            <a:solidFill>
              <a:srgbClr val="2F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222222"/>
                </a:solidFill>
                <a:latin typeface="Microsoft YaHei"/>
              </a:rPr>
              <a:t>意图分类：判定本次问题需要查知识库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12280" y="2176272"/>
            <a:ext cx="0" cy="16459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709160" y="2340864"/>
            <a:ext cx="4206240" cy="566928"/>
          </a:xfrm>
          <a:prstGeom prst="rect">
            <a:avLst/>
          </a:prstGeom>
          <a:solidFill>
            <a:srgbClr val="EAF2FC"/>
          </a:solidFill>
          <a:ln w="15875">
            <a:solidFill>
              <a:srgbClr val="2F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0">
                <a:solidFill>
                  <a:srgbClr val="222222"/>
                </a:solidFill>
                <a:latin typeface="Microsoft YaHei"/>
              </a:rPr>
              <a:t>计算用户可访问的知识库范围</a:t>
            </a:r>
          </a:p>
          <a:p>
            <a:pPr algn="ctr"/>
            <a:r>
              <a:rPr sz="1250" b="0">
                <a:solidFill>
                  <a:srgbClr val="222222"/>
                </a:solidFill>
                <a:latin typeface="Microsoft YaHei"/>
              </a:rPr>
              <a:t>（角色关联的 collection 并集；org_admin = 通配符）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12280" y="2907792"/>
            <a:ext cx="0" cy="164592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709160" y="3072384"/>
            <a:ext cx="4206240" cy="502920"/>
          </a:xfrm>
          <a:prstGeom prst="rect">
            <a:avLst/>
          </a:prstGeom>
          <a:solidFill>
            <a:srgbClr val="EAF2FC"/>
          </a:solidFill>
          <a:ln w="15875">
            <a:solidFill>
              <a:srgbClr val="2F6F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0">
                <a:solidFill>
                  <a:srgbClr val="222222"/>
                </a:solidFill>
                <a:latin typeface="Microsoft YaHei"/>
              </a:rPr>
              <a:t>候选集 = 企业自有知识库 ∩ 用户可访问范围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12280" y="3575304"/>
            <a:ext cx="0" cy="1828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iamond 11"/>
          <p:cNvSpPr/>
          <p:nvPr/>
        </p:nvSpPr>
        <p:spPr>
          <a:xfrm>
            <a:off x="5577840" y="3758184"/>
            <a:ext cx="2468880" cy="777240"/>
          </a:xfrm>
          <a:prstGeom prst="diamond">
            <a:avLst/>
          </a:prstGeom>
          <a:solidFill>
            <a:srgbClr val="FFF3D6"/>
          </a:solidFill>
          <a:ln w="15875">
            <a:solidFill>
              <a:srgbClr val="C98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50" b="1">
                <a:solidFill>
                  <a:srgbClr val="222222"/>
                </a:solidFill>
                <a:latin typeface="Microsoft YaHei"/>
              </a:rPr>
              <a:t>候选集为空？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3749039" y="4146804"/>
            <a:ext cx="1828801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297679" y="3872484"/>
            <a:ext cx="731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53333"/>
                </a:solidFill>
                <a:latin typeface="Microsoft YaHei"/>
              </a:rPr>
              <a:t>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63340"/>
            <a:ext cx="3246120" cy="566928"/>
          </a:xfrm>
          <a:prstGeom prst="rect">
            <a:avLst/>
          </a:prstGeom>
          <a:solidFill>
            <a:srgbClr val="FCE7E7"/>
          </a:solidFill>
          <a:ln w="15875">
            <a:solidFill>
              <a:srgbClr val="C5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C53333"/>
                </a:solidFill>
                <a:latin typeface="Microsoft YaHei"/>
              </a:rPr>
              <a:t>不执行任何真实检索</a:t>
            </a:r>
          </a:p>
          <a:p>
            <a:pPr algn="ctr"/>
            <a:r>
              <a:rPr sz="1250" b="1">
                <a:solidFill>
                  <a:srgbClr val="C53333"/>
                </a:solidFill>
                <a:latin typeface="Microsoft YaHei"/>
              </a:rPr>
              <a:t>直接返回：『## 无权访问』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25980" y="4430268"/>
            <a:ext cx="0" cy="1828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502920" y="4613148"/>
            <a:ext cx="3246120" cy="621792"/>
          </a:xfrm>
          <a:prstGeom prst="rect">
            <a:avLst/>
          </a:prstGeom>
          <a:solidFill>
            <a:srgbClr val="FCE7E7"/>
          </a:solidFill>
          <a:ln w="15875">
            <a:solidFill>
              <a:srgbClr val="C5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generate 节点短路：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跳过 LLM 调用，固定文案原样透传给用户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046720" y="4146804"/>
            <a:ext cx="411480" cy="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069580" y="3872484"/>
            <a:ext cx="365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E9B52"/>
                </a:solidFill>
                <a:latin typeface="Microsoft YaHei"/>
              </a:rPr>
              <a:t>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58200" y="3863340"/>
            <a:ext cx="3246120" cy="566928"/>
          </a:xfrm>
          <a:prstGeom prst="rect">
            <a:avLst/>
          </a:prstGeom>
          <a:solidFill>
            <a:srgbClr val="E3F6E8"/>
          </a:solidFill>
          <a:ln w="15875">
            <a:solidFill>
              <a:srgbClr val="2E9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50" b="1">
                <a:solidFill>
                  <a:srgbClr val="2E9B52"/>
                </a:solidFill>
                <a:latin typeface="Microsoft YaHei"/>
              </a:rPr>
              <a:t>只对候选集里的知识库</a:t>
            </a:r>
          </a:p>
          <a:p>
            <a:pPr algn="ctr"/>
            <a:r>
              <a:rPr sz="1250" b="1">
                <a:solidFill>
                  <a:srgbClr val="2E9B52"/>
                </a:solidFill>
                <a:latin typeface="Microsoft YaHei"/>
              </a:rPr>
              <a:t>执行真实向量检索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081260" y="4430268"/>
            <a:ext cx="0" cy="182880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8458200" y="4613148"/>
            <a:ext cx="3246120" cy="621792"/>
          </a:xfrm>
          <a:prstGeom prst="rect">
            <a:avLst/>
          </a:prstGeom>
          <a:solidFill>
            <a:srgbClr val="E3F6E8"/>
          </a:solidFill>
          <a:ln w="15875">
            <a:solidFill>
              <a:srgbClr val="2E9B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generate 节点正常出口：</a:t>
            </a:r>
          </a:p>
          <a:p>
            <a:pPr algn="ctr"/>
            <a:r>
              <a:rPr sz="1200" b="0">
                <a:solidFill>
                  <a:srgbClr val="222222"/>
                </a:solidFill>
                <a:latin typeface="Microsoft YaHei"/>
              </a:rPr>
              <a:t>检索结果交给 LLM 生成回答，流式返回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125980" y="5234940"/>
            <a:ext cx="468630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6812280" y="5234940"/>
            <a:ext cx="3268980" cy="201168"/>
          </a:xfrm>
          <a:prstGeom prst="line">
            <a:avLst/>
          </a:prstGeom>
          <a:ln w="19050">
            <a:solidFill>
              <a:srgbClr val="55555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09160" y="5436108"/>
            <a:ext cx="4206240" cy="438912"/>
          </a:xfrm>
          <a:prstGeom prst="roundRect">
            <a:avLst/>
          </a:prstGeom>
          <a:solidFill>
            <a:srgbClr val="E9E9EC"/>
          </a:solidFill>
          <a:ln w="15875">
            <a:solidFill>
              <a:srgbClr val="8888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27432" bIns="27432"/>
          <a:lstStyle/>
          <a:p>
            <a:pPr algn="ctr"/>
            <a:r>
              <a:rPr sz="1300" b="1">
                <a:solidFill>
                  <a:srgbClr val="222222"/>
                </a:solidFill>
                <a:latin typeface="Microsoft YaHei"/>
              </a:rPr>
              <a:t>对话结束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0396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Microsoft YaHei"/>
              </a:rPr>
              <a:t>关键点：权限判断发生在「工具调用层」（query_knowledge_hub），而不是 LLM 生成阶段；无权限时候选集在检索前就已算空，向量库不会被真实查询一次。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2026-08-24T10:00:48Z</dcterms:created>
  <dcterms:modified xsi:type="dcterms:W3CDTF">2026-08-24T10:00:48Z</dcterms:modified>
</cp:coreProperties>
</file>